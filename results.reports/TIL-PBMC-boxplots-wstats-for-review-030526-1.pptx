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310" r:id="rId6"/>
    <p:sldId id="303" r:id="rId7"/>
    <p:sldId id="304" r:id="rId8"/>
    <p:sldId id="305" r:id="rId9"/>
    <p:sldId id="306" r:id="rId10"/>
    <p:sldId id="307" r:id="rId11"/>
    <p:sldId id="308" r:id="rId12"/>
    <p:sldId id="311" r:id="rId13"/>
    <p:sldId id="312" r:id="rId14"/>
    <p:sldId id="313" r:id="rId15"/>
    <p:sldId id="314" r:id="rId16"/>
    <p:sldId id="315" r:id="rId17"/>
    <p:sldId id="316" r:id="rId18"/>
    <p:sldId id="309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2" r:id="rId33"/>
    <p:sldId id="330" r:id="rId34"/>
    <p:sldId id="331" r:id="rId35"/>
    <p:sldId id="333" r:id="rId36"/>
    <p:sldId id="334" r:id="rId37"/>
    <p:sldId id="335" r:id="rId38"/>
    <p:sldId id="337" r:id="rId39"/>
    <p:sldId id="33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7"/>
    <p:restoredTop sz="94643"/>
  </p:normalViewPr>
  <p:slideViewPr>
    <p:cSldViewPr snapToGrid="0">
      <p:cViewPr varScale="1">
        <p:scale>
          <a:sx n="114" d="100"/>
          <a:sy n="114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13C1-9BED-CE31-8E8F-79EF13976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6E995-4531-81F4-A0F2-8848F715F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387BE-EE29-C286-8496-EC5BD632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224DC-34A5-BE39-FD40-A7A455737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0A629-2A3E-74B8-E624-DF022E6B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97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794D6-086A-618E-B0D1-74B328DA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B0FFF-4F74-BBB9-E548-7D2A6EEFC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E7D1F-34FC-641C-ADE0-545280A2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C2545-5E51-56B8-9F5E-48E7765EE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9809F-61F9-398A-9C9E-748EFF72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28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585B-56AE-3DC9-C072-1627BAC1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F5783-56B6-12E6-2DEE-B847CAECF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7BBA2-7992-2742-8C99-C399151D6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D3C87-50B8-F750-37E6-C9068AE39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16B4A-7B8E-F2FC-DF25-B6872AD1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0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93F6C-79CD-4117-D57C-F96D20A1F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5693C-6EF1-987D-69F0-5C49EF1C1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618A6-6D05-1786-EC94-33FB5AB64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7FA00-F4C3-EB70-DC29-90FF795E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8CEDB-F4AE-DBBC-07AC-84782CD20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ACD3F-35D1-9EDC-2C33-2E8AE39E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75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772E-7DB8-EF75-1674-62CE6920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8E2FA-11FB-D648-1D2C-DE4BDD521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5FC4D-3118-F5F6-9BB9-4E0BBFF4D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7F8CD-CE67-C1E3-278C-C5804314B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F47E4-771C-63EA-6D65-AA3E13F8E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EEA52B-F360-F29B-8A5C-D4B4FD39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D8D10-556B-A104-A73B-F304AD56E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DC6BFB-9F3A-2367-8990-5229F4AFD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0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AF1D3-54FF-0C5A-0D6D-27D1CA328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DB8B63-1DF0-BC4C-69E8-6C592A034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5EE16-F583-B38D-5114-112167DB1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532F5-7032-A231-4E3B-F99D2BC76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87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8FD690-88C8-2C02-34EA-A6D74A88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844EA8-5B28-AE75-D51E-70BD4602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DE93A-02C6-710C-FF49-91E4C93B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6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412D6-7C54-426B-20EE-F0549574E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B51F0-2D46-5EA5-79E2-0CD91CE75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FB036-B03D-8BC1-C8EC-E925F85C8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F5DED-946A-7750-B774-20A9FC12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1AD56-B1DA-A6B8-30EF-41B2EA685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832D1-AB0C-3477-32E5-DDD4920D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44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F361-DAE1-1513-02E6-DD348D7BB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74D972-E2FA-C445-755D-5D8458C666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3BAAC-A3D9-D9A2-3FDF-9B634C89C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92BE8-3105-341B-6E62-22BC863FD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9BF2C-1030-2D82-44B2-6FD6398A4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2E8D0-CB84-4066-6D8E-80EE8EEA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8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7383-DE06-3FD3-5FC6-DE095A71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447C4-ACD2-8E8C-770E-31614584A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F47CE-B0A9-A70E-E72B-D3C61C02F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70BE8-268B-8B7B-DAB9-93467513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E5ADF-86A0-52B0-382E-84E58558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9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794842-D79B-10E3-62B6-31781C914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6F77F-A059-0167-3579-720DC6CD3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858C3-C65E-1234-DAF8-B2047E70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7BA53-3725-AD75-09CD-7D0AE81A1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6E738-38AC-4E9A-4711-C8119BA6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2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29759-C356-18F4-E8E1-D182066D3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B7C2A-E96D-865B-3986-258661FC4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A83DA-8DF8-D474-FBCA-A5C67D044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34F70-7401-3C42-A797-E616B7C82193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11F30-B10F-0879-EDF9-A4728BAD6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BBF26-3A80-19B7-40C6-3A0243C7A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E8F9C-72DB-1B49-97B4-D3CEF48F1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76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496C-50B8-DC16-8897-329CECE641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253 – </a:t>
            </a:r>
            <a:br>
              <a:rPr lang="en-US" dirty="0"/>
            </a:br>
            <a:r>
              <a:rPr lang="en-US" dirty="0"/>
              <a:t>Signature score boxplots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96E08-8D42-2446-C2AE-8121F6F559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9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DF75-FE11-D027-A396-E6AFA2A1D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Plots with correct lead-in order – TIL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9F74E-1C15-4C38-285A-6C4B717C95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Location on OneDrive:</a:t>
            </a:r>
          </a:p>
          <a:p>
            <a:r>
              <a:rPr lang="en-US" dirty="0"/>
              <a:t>Internal_Project_Data_3/HCC-CBS-253-Hillman-LKarapetyan-scRNAseq-revise/results/</a:t>
            </a:r>
            <a:r>
              <a:rPr lang="en-US" dirty="0" err="1"/>
              <a:t>jwork</a:t>
            </a:r>
            <a:r>
              <a:rPr lang="en-US" dirty="0"/>
              <a:t>/pdf-folder/</a:t>
            </a:r>
          </a:p>
          <a:p>
            <a:r>
              <a:rPr lang="en-US" i="1" dirty="0"/>
              <a:t>Specific locations of plots are indicated at the bottom of the slide</a:t>
            </a:r>
          </a:p>
        </p:txBody>
      </p:sp>
    </p:spTree>
    <p:extLst>
      <p:ext uri="{BB962C8B-B14F-4D97-AF65-F5344CB8AC3E}">
        <p14:creationId xmlns:p14="http://schemas.microsoft.com/office/powerpoint/2010/main" val="956426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6EA5-AE3F-08E3-C4A6-B63CB9B6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</a:t>
            </a:r>
            <a:r>
              <a:rPr lang="en-US" dirty="0" err="1"/>
              <a:t>IFNg</a:t>
            </a:r>
            <a:r>
              <a:rPr lang="en-US" dirty="0"/>
              <a:t> score – by Timepoint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2D8C02-8AAE-9A1F-5E73-D7559A041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4186" y="1388183"/>
            <a:ext cx="6983627" cy="5341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509A7E-F2AA-672E-CD14-8130C4084AEE}"/>
              </a:ext>
            </a:extLst>
          </p:cNvPr>
          <p:cNvSpPr txBox="1"/>
          <p:nvPr/>
        </p:nvSpPr>
        <p:spPr>
          <a:xfrm>
            <a:off x="333632" y="6351373"/>
            <a:ext cx="2784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2til-ifng-time-w-anova.pdf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8C7147-D012-FD66-F5F4-A3D182E914B8}"/>
              </a:ext>
            </a:extLst>
          </p:cNvPr>
          <p:cNvSpPr txBox="1"/>
          <p:nvPr/>
        </p:nvSpPr>
        <p:spPr>
          <a:xfrm>
            <a:off x="333632" y="5973167"/>
            <a:ext cx="2921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pdf-folder&gt;TIL&gt;</a:t>
            </a:r>
            <a:r>
              <a:rPr lang="en-US" dirty="0" err="1"/>
              <a:t>IFNg</a:t>
            </a:r>
            <a:r>
              <a:rPr lang="en-US" dirty="0"/>
              <a:t>-score&gt;</a:t>
            </a:r>
          </a:p>
        </p:txBody>
      </p:sp>
    </p:spTree>
    <p:extLst>
      <p:ext uri="{BB962C8B-B14F-4D97-AF65-F5344CB8AC3E}">
        <p14:creationId xmlns:p14="http://schemas.microsoft.com/office/powerpoint/2010/main" val="8618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26E5-7494-F85A-4BC8-3621D1FD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</a:t>
            </a:r>
            <a:r>
              <a:rPr lang="en-US" dirty="0" err="1"/>
              <a:t>IFNg</a:t>
            </a:r>
            <a:r>
              <a:rPr lang="en-US" dirty="0"/>
              <a:t> score – by Lead-in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22A6C2-AF5D-9A84-2BA7-1188D847D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952" y="1375827"/>
            <a:ext cx="6994096" cy="53494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B8F2E7-349A-D9EC-F3E4-CB102A13FE26}"/>
              </a:ext>
            </a:extLst>
          </p:cNvPr>
          <p:cNvSpPr txBox="1"/>
          <p:nvPr/>
        </p:nvSpPr>
        <p:spPr>
          <a:xfrm>
            <a:off x="160638" y="6462584"/>
            <a:ext cx="2951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2til-ifng-leadin-w-anova.pdf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E458BA-1DC3-50B4-3902-1616D8EA0871}"/>
              </a:ext>
            </a:extLst>
          </p:cNvPr>
          <p:cNvSpPr txBox="1"/>
          <p:nvPr/>
        </p:nvSpPr>
        <p:spPr>
          <a:xfrm>
            <a:off x="160638" y="5986567"/>
            <a:ext cx="2951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pdf-folder&gt;TIL&gt;</a:t>
            </a:r>
            <a:r>
              <a:rPr lang="en-US" dirty="0" err="1"/>
              <a:t>IFNg</a:t>
            </a:r>
            <a:r>
              <a:rPr lang="en-US" dirty="0"/>
              <a:t>-score&gt;</a:t>
            </a:r>
          </a:p>
        </p:txBody>
      </p:sp>
    </p:spTree>
    <p:extLst>
      <p:ext uri="{BB962C8B-B14F-4D97-AF65-F5344CB8AC3E}">
        <p14:creationId xmlns:p14="http://schemas.microsoft.com/office/powerpoint/2010/main" val="313771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FE5EC-05EE-BFAE-AD08-98C3B41B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</a:t>
            </a:r>
            <a:r>
              <a:rPr lang="en-US" dirty="0" err="1"/>
              <a:t>IFNg</a:t>
            </a:r>
            <a:r>
              <a:rPr lang="en-US" dirty="0"/>
              <a:t> score – PFS outcome – by Lead-in - Wilcox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8836B3-54FA-452C-FD5E-1E05D0A74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3932" y="1585890"/>
            <a:ext cx="7284136" cy="51549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785D8A-0282-A759-8085-260637D695C9}"/>
              </a:ext>
            </a:extLst>
          </p:cNvPr>
          <p:cNvSpPr txBox="1"/>
          <p:nvPr/>
        </p:nvSpPr>
        <p:spPr>
          <a:xfrm>
            <a:off x="86497" y="6488668"/>
            <a:ext cx="3364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2til-ifng-leadin-pfs-w-wilcox.pdf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151FAA-69F4-6B17-9FDD-977A64D15C41}"/>
              </a:ext>
            </a:extLst>
          </p:cNvPr>
          <p:cNvSpPr txBox="1"/>
          <p:nvPr/>
        </p:nvSpPr>
        <p:spPr>
          <a:xfrm>
            <a:off x="86497" y="6119336"/>
            <a:ext cx="2916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pdf-folder&gt;TIL&gt;</a:t>
            </a:r>
            <a:r>
              <a:rPr lang="en-US" dirty="0" err="1"/>
              <a:t>IFNg</a:t>
            </a:r>
            <a:r>
              <a:rPr lang="en-US" dirty="0"/>
              <a:t>-score&gt;</a:t>
            </a:r>
          </a:p>
        </p:txBody>
      </p:sp>
    </p:spTree>
    <p:extLst>
      <p:ext uri="{BB962C8B-B14F-4D97-AF65-F5344CB8AC3E}">
        <p14:creationId xmlns:p14="http://schemas.microsoft.com/office/powerpoint/2010/main" val="25300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1719D-FFBE-F414-A460-2334B5AEC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</a:t>
            </a:r>
            <a:r>
              <a:rPr lang="en-US" dirty="0" err="1"/>
              <a:t>IFNg</a:t>
            </a:r>
            <a:r>
              <a:rPr lang="en-US" dirty="0"/>
              <a:t> score – PFS outcome – by Lead-in – ANOVA – stat labeling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9F8D8D-97FB-D27C-1E9B-FF8C4E914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4111" y="1690688"/>
            <a:ext cx="8023777" cy="5167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E8A7C2-8E94-817A-BD5E-74BEA4CA4E17}"/>
              </a:ext>
            </a:extLst>
          </p:cNvPr>
          <p:cNvSpPr txBox="1"/>
          <p:nvPr/>
        </p:nvSpPr>
        <p:spPr>
          <a:xfrm>
            <a:off x="125946" y="6492875"/>
            <a:ext cx="3916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2til-ifng-pfs-time-needs-brackets.pdf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063BF-6C72-4730-B6CD-6265A76E0B43}"/>
              </a:ext>
            </a:extLst>
          </p:cNvPr>
          <p:cNvSpPr txBox="1"/>
          <p:nvPr/>
        </p:nvSpPr>
        <p:spPr>
          <a:xfrm>
            <a:off x="86497" y="6119336"/>
            <a:ext cx="338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pdf-folder&gt;stat-labeling-issue&gt;</a:t>
            </a:r>
          </a:p>
        </p:txBody>
      </p:sp>
    </p:spTree>
    <p:extLst>
      <p:ext uri="{BB962C8B-B14F-4D97-AF65-F5344CB8AC3E}">
        <p14:creationId xmlns:p14="http://schemas.microsoft.com/office/powerpoint/2010/main" val="365196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4DD9-DAED-9787-2DED-718026E0C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CYT score – by Timepoint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51A2BC-CA11-6606-5D03-B78648BD0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6276" y="1366832"/>
            <a:ext cx="7179447" cy="5491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1320CE-4BC6-31A4-3DD1-310F96BB79C0}"/>
              </a:ext>
            </a:extLst>
          </p:cNvPr>
          <p:cNvSpPr txBox="1"/>
          <p:nvPr/>
        </p:nvSpPr>
        <p:spPr>
          <a:xfrm>
            <a:off x="98854" y="6308209"/>
            <a:ext cx="2721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2til-cyt-time-w-anova.pdf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A58C8-6DB9-F6A8-D3BD-3AC55585783D}"/>
              </a:ext>
            </a:extLst>
          </p:cNvPr>
          <p:cNvSpPr txBox="1"/>
          <p:nvPr/>
        </p:nvSpPr>
        <p:spPr>
          <a:xfrm>
            <a:off x="98854" y="5938877"/>
            <a:ext cx="2916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pdf-folder&gt;TIL&gt;CYT-score&gt;</a:t>
            </a:r>
          </a:p>
        </p:txBody>
      </p:sp>
    </p:spTree>
    <p:extLst>
      <p:ext uri="{BB962C8B-B14F-4D97-AF65-F5344CB8AC3E}">
        <p14:creationId xmlns:p14="http://schemas.microsoft.com/office/powerpoint/2010/main" val="571530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2B251-4001-3C1F-03E5-75612BCE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CYT score – by Lead-in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4F036E-D9B0-73F8-0EE1-D6224BE6D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5130" y="1518048"/>
            <a:ext cx="6981739" cy="5339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3CB7A-5F97-C49C-9905-CB8E28514F31}"/>
              </a:ext>
            </a:extLst>
          </p:cNvPr>
          <p:cNvSpPr txBox="1"/>
          <p:nvPr/>
        </p:nvSpPr>
        <p:spPr>
          <a:xfrm>
            <a:off x="98854" y="6308209"/>
            <a:ext cx="2888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2til-cyt-leadin-w-anova.pdf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53D0D-1CF4-F5D0-8E8F-E34BE75C6008}"/>
              </a:ext>
            </a:extLst>
          </p:cNvPr>
          <p:cNvSpPr txBox="1"/>
          <p:nvPr/>
        </p:nvSpPr>
        <p:spPr>
          <a:xfrm>
            <a:off x="98854" y="5938877"/>
            <a:ext cx="2916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pdf-folder&gt;TIL&gt;CYT-score&gt;</a:t>
            </a:r>
          </a:p>
        </p:txBody>
      </p:sp>
    </p:spTree>
    <p:extLst>
      <p:ext uri="{BB962C8B-B14F-4D97-AF65-F5344CB8AC3E}">
        <p14:creationId xmlns:p14="http://schemas.microsoft.com/office/powerpoint/2010/main" val="1039079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2124-68CE-07F7-87BC-1C0E7FC57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CYT score – PFS outcome - by Lead-in - Wilcox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6ED00B-3114-00B4-B78C-7882FBC3E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316" y="1593064"/>
            <a:ext cx="8175367" cy="5264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75058E-12F9-0828-4791-2B8D72059A82}"/>
              </a:ext>
            </a:extLst>
          </p:cNvPr>
          <p:cNvSpPr txBox="1"/>
          <p:nvPr/>
        </p:nvSpPr>
        <p:spPr>
          <a:xfrm>
            <a:off x="160638" y="6488668"/>
            <a:ext cx="3301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2til-cyt-pfs-leadin-w-wilcox.pdf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E7B15-96B7-CF31-D8BA-251C641447BF}"/>
              </a:ext>
            </a:extLst>
          </p:cNvPr>
          <p:cNvSpPr txBox="1"/>
          <p:nvPr/>
        </p:nvSpPr>
        <p:spPr>
          <a:xfrm>
            <a:off x="160638" y="6119336"/>
            <a:ext cx="2916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pdf-folder&gt;TIL&gt;CYT-score&gt;</a:t>
            </a:r>
          </a:p>
        </p:txBody>
      </p:sp>
    </p:spTree>
    <p:extLst>
      <p:ext uri="{BB962C8B-B14F-4D97-AF65-F5344CB8AC3E}">
        <p14:creationId xmlns:p14="http://schemas.microsoft.com/office/powerpoint/2010/main" val="1289968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0337-41BB-FFF6-4003-02C5FEA61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CYT score – PFS outcome - by Timepoint – ANOVA – stat labeling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D36EC4-8777-75D5-577A-05E5B39BE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9527" y="1690688"/>
            <a:ext cx="7952946" cy="5121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5A29C6-3685-1AD6-BFD9-6D9DC59D4606}"/>
              </a:ext>
            </a:extLst>
          </p:cNvPr>
          <p:cNvSpPr txBox="1"/>
          <p:nvPr/>
        </p:nvSpPr>
        <p:spPr>
          <a:xfrm>
            <a:off x="0" y="6488668"/>
            <a:ext cx="4735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2til-cyt-pfs-time-w-anova-needs-brackets.pdf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3C5C7-1904-DFBD-4B2F-1836859FD329}"/>
              </a:ext>
            </a:extLst>
          </p:cNvPr>
          <p:cNvSpPr txBox="1"/>
          <p:nvPr/>
        </p:nvSpPr>
        <p:spPr>
          <a:xfrm>
            <a:off x="86497" y="6119336"/>
            <a:ext cx="338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pdf-folder&gt;stat-labeling-issue&gt;</a:t>
            </a:r>
          </a:p>
        </p:txBody>
      </p:sp>
    </p:spTree>
    <p:extLst>
      <p:ext uri="{BB962C8B-B14F-4D97-AF65-F5344CB8AC3E}">
        <p14:creationId xmlns:p14="http://schemas.microsoft.com/office/powerpoint/2010/main" val="2552005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09034-BC30-CA18-46D1-F9F894DA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APS score – by Timepoint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076064-676C-E30E-E6AF-2EF00242B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3346" y="1423537"/>
            <a:ext cx="7105307" cy="54344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3FA348-A25D-4056-BF5B-465649D62C90}"/>
              </a:ext>
            </a:extLst>
          </p:cNvPr>
          <p:cNvSpPr txBox="1"/>
          <p:nvPr/>
        </p:nvSpPr>
        <p:spPr>
          <a:xfrm>
            <a:off x="247135" y="6524368"/>
            <a:ext cx="278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2til-aps-time-w-anova.pdf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7FB1F-8EA9-E8D0-68F1-D9B43D96FF46}"/>
              </a:ext>
            </a:extLst>
          </p:cNvPr>
          <p:cNvSpPr txBox="1"/>
          <p:nvPr/>
        </p:nvSpPr>
        <p:spPr>
          <a:xfrm>
            <a:off x="160638" y="6119336"/>
            <a:ext cx="2916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pdf-folder&gt;TIL&gt;APS-score&gt;</a:t>
            </a:r>
          </a:p>
        </p:txBody>
      </p:sp>
    </p:spTree>
    <p:extLst>
      <p:ext uri="{BB962C8B-B14F-4D97-AF65-F5344CB8AC3E}">
        <p14:creationId xmlns:p14="http://schemas.microsoft.com/office/powerpoint/2010/main" val="555470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597B-32AB-AB76-B36F-50B42A2D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APS score – by Lead-in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0D15B4-A8D2-CAD5-4485-C197776EE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7168" y="1414086"/>
            <a:ext cx="7117664" cy="5443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B26D64-A311-3427-5CED-E6736AE52015}"/>
              </a:ext>
            </a:extLst>
          </p:cNvPr>
          <p:cNvSpPr txBox="1"/>
          <p:nvPr/>
        </p:nvSpPr>
        <p:spPr>
          <a:xfrm>
            <a:off x="185351" y="6437870"/>
            <a:ext cx="3186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2til-aps-byleadin-w-anova.pdf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011E79-5A33-C916-0B2E-665E0840EF3A}"/>
              </a:ext>
            </a:extLst>
          </p:cNvPr>
          <p:cNvSpPr txBox="1"/>
          <p:nvPr/>
        </p:nvSpPr>
        <p:spPr>
          <a:xfrm>
            <a:off x="160638" y="6119336"/>
            <a:ext cx="2916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pdf-folder&gt;TIL&gt;APS-score&gt;</a:t>
            </a:r>
          </a:p>
        </p:txBody>
      </p:sp>
    </p:spTree>
    <p:extLst>
      <p:ext uri="{BB962C8B-B14F-4D97-AF65-F5344CB8AC3E}">
        <p14:creationId xmlns:p14="http://schemas.microsoft.com/office/powerpoint/2010/main" val="3989849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37F29-A6F5-15E4-D2FB-085B73BB2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APS score – PFS outcome - by Lead-in - Wilcox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AE11D7-9886-57C3-E478-FC6F02879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6861" y="1650604"/>
            <a:ext cx="7358277" cy="520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B2F2F6-1A02-3C76-12F2-D7037B906429}"/>
              </a:ext>
            </a:extLst>
          </p:cNvPr>
          <p:cNvSpPr txBox="1"/>
          <p:nvPr/>
        </p:nvSpPr>
        <p:spPr>
          <a:xfrm>
            <a:off x="111211" y="6488668"/>
            <a:ext cx="3367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2til-aps-leadin-pfs-w-wilcox.pdf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53387-B02C-EF8F-0948-738C8E7DE4B2}"/>
              </a:ext>
            </a:extLst>
          </p:cNvPr>
          <p:cNvSpPr txBox="1"/>
          <p:nvPr/>
        </p:nvSpPr>
        <p:spPr>
          <a:xfrm>
            <a:off x="160638" y="6119336"/>
            <a:ext cx="2916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pdf-folder&gt;TIL&gt;APS-score&gt;</a:t>
            </a:r>
          </a:p>
        </p:txBody>
      </p:sp>
    </p:spTree>
    <p:extLst>
      <p:ext uri="{BB962C8B-B14F-4D97-AF65-F5344CB8AC3E}">
        <p14:creationId xmlns:p14="http://schemas.microsoft.com/office/powerpoint/2010/main" val="3493920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D1D58-927A-66B9-ED3E-AB8482F4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APS score – PFS outcome - by Timepoint – ANOVA – stat labeling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0B2009-7AAA-61BC-E7A6-ED9F15193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3348" y="1690688"/>
            <a:ext cx="7965303" cy="51296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68B12B-BA9D-ABE3-F585-75BD23D63C44}"/>
              </a:ext>
            </a:extLst>
          </p:cNvPr>
          <p:cNvSpPr txBox="1"/>
          <p:nvPr/>
        </p:nvSpPr>
        <p:spPr>
          <a:xfrm>
            <a:off x="0" y="6492875"/>
            <a:ext cx="480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2til-aps-time-pfs-w-anova-needs-brackets.pdf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96F768-B669-D86A-9C63-B61726D9F412}"/>
              </a:ext>
            </a:extLst>
          </p:cNvPr>
          <p:cNvSpPr txBox="1"/>
          <p:nvPr/>
        </p:nvSpPr>
        <p:spPr>
          <a:xfrm>
            <a:off x="86497" y="6119336"/>
            <a:ext cx="338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pdf-folder&gt;stat-labeling-issue&gt;</a:t>
            </a:r>
          </a:p>
        </p:txBody>
      </p:sp>
    </p:spTree>
    <p:extLst>
      <p:ext uri="{BB962C8B-B14F-4D97-AF65-F5344CB8AC3E}">
        <p14:creationId xmlns:p14="http://schemas.microsoft.com/office/powerpoint/2010/main" val="2676672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8F704-F076-F9DA-A3BD-158F73FBD8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Plots with correct lead-in order - PBMC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468BD-FC2B-A057-2F13-98B26F58B5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80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770A1-1CF8-3B9D-027C-130196BF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</a:t>
            </a:r>
            <a:r>
              <a:rPr lang="en-US" dirty="0" err="1"/>
              <a:t>IFNg</a:t>
            </a:r>
            <a:r>
              <a:rPr lang="en-US" dirty="0"/>
              <a:t> score – by Timepoint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7A17EC-6EED-4C8B-AEBD-121CF27C0D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8814" y="1340119"/>
            <a:ext cx="7214372" cy="5517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FEC5F-3121-A47F-EAC9-196917B818DE}"/>
              </a:ext>
            </a:extLst>
          </p:cNvPr>
          <p:cNvSpPr txBox="1"/>
          <p:nvPr/>
        </p:nvSpPr>
        <p:spPr>
          <a:xfrm>
            <a:off x="76278" y="6400799"/>
            <a:ext cx="3174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1pbmc-ifng-time-w-anova.pdf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5FAAFF-A213-7C31-D277-5BD1E17AB01D}"/>
              </a:ext>
            </a:extLst>
          </p:cNvPr>
          <p:cNvSpPr txBox="1"/>
          <p:nvPr/>
        </p:nvSpPr>
        <p:spPr>
          <a:xfrm>
            <a:off x="160638" y="6119336"/>
            <a:ext cx="347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pdf-folder&gt;PBMC&gt;</a:t>
            </a:r>
            <a:r>
              <a:rPr lang="en-US" dirty="0" err="1"/>
              <a:t>IFNg</a:t>
            </a:r>
            <a:r>
              <a:rPr lang="en-US" dirty="0"/>
              <a:t>-score&gt;</a:t>
            </a:r>
          </a:p>
        </p:txBody>
      </p:sp>
    </p:spTree>
    <p:extLst>
      <p:ext uri="{BB962C8B-B14F-4D97-AF65-F5344CB8AC3E}">
        <p14:creationId xmlns:p14="http://schemas.microsoft.com/office/powerpoint/2010/main" val="1324602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B383-1679-2EE3-0DB7-8FEC97DAB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</a:t>
            </a:r>
            <a:r>
              <a:rPr lang="en-US" dirty="0" err="1"/>
              <a:t>IFNg</a:t>
            </a:r>
            <a:r>
              <a:rPr lang="en-US" dirty="0"/>
              <a:t> score – by Lead-in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BDBAF5-93A1-FDD1-7393-43315ABB1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1308" y="1527498"/>
            <a:ext cx="6969383" cy="53305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C9B838-83C5-A9D9-47EB-8973829D9715}"/>
              </a:ext>
            </a:extLst>
          </p:cNvPr>
          <p:cNvSpPr txBox="1"/>
          <p:nvPr/>
        </p:nvSpPr>
        <p:spPr>
          <a:xfrm>
            <a:off x="197708" y="6450227"/>
            <a:ext cx="3341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1pbmc-ifng-leadin-w-anova.pdf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0525A-61DE-0A2A-FFE5-57F2F8C539AF}"/>
              </a:ext>
            </a:extLst>
          </p:cNvPr>
          <p:cNvSpPr txBox="1"/>
          <p:nvPr/>
        </p:nvSpPr>
        <p:spPr>
          <a:xfrm>
            <a:off x="160638" y="6119336"/>
            <a:ext cx="347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pdf-folder&gt;PBMC&gt;</a:t>
            </a:r>
            <a:r>
              <a:rPr lang="en-US" dirty="0" err="1"/>
              <a:t>IFNg</a:t>
            </a:r>
            <a:r>
              <a:rPr lang="en-US" dirty="0"/>
              <a:t>-score&gt;</a:t>
            </a:r>
          </a:p>
        </p:txBody>
      </p:sp>
    </p:spTree>
    <p:extLst>
      <p:ext uri="{BB962C8B-B14F-4D97-AF65-F5344CB8AC3E}">
        <p14:creationId xmlns:p14="http://schemas.microsoft.com/office/powerpoint/2010/main" val="1168224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CAD8-A9FA-B2B1-057F-5DB034050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</a:t>
            </a:r>
            <a:r>
              <a:rPr lang="en-US" dirty="0" err="1"/>
              <a:t>IFNg</a:t>
            </a:r>
            <a:r>
              <a:rPr lang="en-US" dirty="0"/>
              <a:t> score – PFS outcome – by Lead-in - Wilcox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DF94CA-531A-8E59-A870-F62DD1201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711" y="1598247"/>
            <a:ext cx="7252578" cy="52597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D9E9AB-F5A3-3432-C585-0698FC25935A}"/>
              </a:ext>
            </a:extLst>
          </p:cNvPr>
          <p:cNvSpPr txBox="1"/>
          <p:nvPr/>
        </p:nvSpPr>
        <p:spPr>
          <a:xfrm>
            <a:off x="84438" y="6492875"/>
            <a:ext cx="375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1pbmc-ifng-leadin-pfs-w-wilcox.pdf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8E080-1277-441A-72D6-6E0747330D60}"/>
              </a:ext>
            </a:extLst>
          </p:cNvPr>
          <p:cNvSpPr txBox="1"/>
          <p:nvPr/>
        </p:nvSpPr>
        <p:spPr>
          <a:xfrm>
            <a:off x="160638" y="6119336"/>
            <a:ext cx="347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pdf-folder&gt;PBMC&gt;</a:t>
            </a:r>
            <a:r>
              <a:rPr lang="en-US" dirty="0" err="1"/>
              <a:t>IFNg</a:t>
            </a:r>
            <a:r>
              <a:rPr lang="en-US" dirty="0"/>
              <a:t>-score&gt;</a:t>
            </a:r>
          </a:p>
        </p:txBody>
      </p:sp>
    </p:spTree>
    <p:extLst>
      <p:ext uri="{BB962C8B-B14F-4D97-AF65-F5344CB8AC3E}">
        <p14:creationId xmlns:p14="http://schemas.microsoft.com/office/powerpoint/2010/main" val="1019207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A1B1-BAA0-3460-C341-69EBDF3E3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</a:t>
            </a:r>
            <a:r>
              <a:rPr lang="en-US" dirty="0" err="1"/>
              <a:t>IFNg</a:t>
            </a:r>
            <a:r>
              <a:rPr lang="en-US" dirty="0"/>
              <a:t> score – PFS outcome – by Timepoint – ANOVA – stat labeling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0BDF67-2706-BED6-6616-AFAFD4440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1224" y="1702589"/>
            <a:ext cx="8389551" cy="51554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D1D853-4714-0F6C-2230-FECA8721CB13}"/>
              </a:ext>
            </a:extLst>
          </p:cNvPr>
          <p:cNvSpPr txBox="1"/>
          <p:nvPr/>
        </p:nvSpPr>
        <p:spPr>
          <a:xfrm>
            <a:off x="0" y="6500569"/>
            <a:ext cx="518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1pbmc-ifng-time-pfs-w-anova-needs-brackets.pdf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55ABD-4822-DFCC-BAB3-02C40DA53EA9}"/>
              </a:ext>
            </a:extLst>
          </p:cNvPr>
          <p:cNvSpPr txBox="1"/>
          <p:nvPr/>
        </p:nvSpPr>
        <p:spPr>
          <a:xfrm>
            <a:off x="86497" y="6119336"/>
            <a:ext cx="338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pdf-folder&gt;stat-labeling-issue&gt;</a:t>
            </a:r>
          </a:p>
        </p:txBody>
      </p:sp>
    </p:spTree>
    <p:extLst>
      <p:ext uri="{BB962C8B-B14F-4D97-AF65-F5344CB8AC3E}">
        <p14:creationId xmlns:p14="http://schemas.microsoft.com/office/powerpoint/2010/main" val="4061609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D41F3-C8D4-F08A-62FF-12B6C23A2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CYT scores – by Timepoint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842216-CA21-FE53-9F66-7799BB91F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4811" y="1395184"/>
            <a:ext cx="7142377" cy="54628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3BE143-1173-FAB0-C68A-28A98ED87C95}"/>
              </a:ext>
            </a:extLst>
          </p:cNvPr>
          <p:cNvSpPr txBox="1"/>
          <p:nvPr/>
        </p:nvSpPr>
        <p:spPr>
          <a:xfrm>
            <a:off x="148281" y="6339016"/>
            <a:ext cx="3111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1pbmc-cyt-time-w-anova.pdf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79007A-EE99-917A-45DA-BDC512415BF3}"/>
              </a:ext>
            </a:extLst>
          </p:cNvPr>
          <p:cNvSpPr txBox="1"/>
          <p:nvPr/>
        </p:nvSpPr>
        <p:spPr>
          <a:xfrm>
            <a:off x="148281" y="6004698"/>
            <a:ext cx="347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pdf-folder&gt;PBMC&gt;CYT-score&gt;</a:t>
            </a:r>
          </a:p>
        </p:txBody>
      </p:sp>
    </p:spTree>
    <p:extLst>
      <p:ext uri="{BB962C8B-B14F-4D97-AF65-F5344CB8AC3E}">
        <p14:creationId xmlns:p14="http://schemas.microsoft.com/office/powerpoint/2010/main" val="2956870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9F17-09DC-6685-A8CB-9B678C410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CYT scores – by Lead-in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18F376-3F4B-EA44-42C8-944ACA6BE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2454" y="1376282"/>
            <a:ext cx="7167091" cy="5481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E332DF-2637-9A21-C3EF-B7307CA3C549}"/>
              </a:ext>
            </a:extLst>
          </p:cNvPr>
          <p:cNvSpPr txBox="1"/>
          <p:nvPr/>
        </p:nvSpPr>
        <p:spPr>
          <a:xfrm>
            <a:off x="222422" y="6499654"/>
            <a:ext cx="3278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1pbmc-cyt-leadin-w-anova.pdf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9054C-CE39-D024-0901-46917739C111}"/>
              </a:ext>
            </a:extLst>
          </p:cNvPr>
          <p:cNvSpPr txBox="1"/>
          <p:nvPr/>
        </p:nvSpPr>
        <p:spPr>
          <a:xfrm>
            <a:off x="222422" y="6130322"/>
            <a:ext cx="347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pdf-folder&gt;PBMC&gt;CYT-score&gt;</a:t>
            </a:r>
          </a:p>
        </p:txBody>
      </p:sp>
    </p:spTree>
    <p:extLst>
      <p:ext uri="{BB962C8B-B14F-4D97-AF65-F5344CB8AC3E}">
        <p14:creationId xmlns:p14="http://schemas.microsoft.com/office/powerpoint/2010/main" val="2915713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5475-D7F5-1E0C-42F0-891381DC5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CYT scores – PFS outcomes - by Lead-in - Wilcox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029B89-72C8-A470-BFF8-5A8019C96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640" y="1690688"/>
            <a:ext cx="7090719" cy="51423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331E77-1074-FB8C-DB38-73F9691FFA64}"/>
              </a:ext>
            </a:extLst>
          </p:cNvPr>
          <p:cNvSpPr txBox="1"/>
          <p:nvPr/>
        </p:nvSpPr>
        <p:spPr>
          <a:xfrm>
            <a:off x="148281" y="6492875"/>
            <a:ext cx="3691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1pbmc-cyt-pfs-leadin-w-wilcox.pdf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26A37-1133-F970-C367-B1CD2AD8384E}"/>
              </a:ext>
            </a:extLst>
          </p:cNvPr>
          <p:cNvSpPr txBox="1"/>
          <p:nvPr/>
        </p:nvSpPr>
        <p:spPr>
          <a:xfrm>
            <a:off x="148281" y="6123543"/>
            <a:ext cx="347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pdf-folder&gt;PBMC&gt;CYT-score&gt;</a:t>
            </a:r>
          </a:p>
        </p:txBody>
      </p:sp>
    </p:spTree>
    <p:extLst>
      <p:ext uri="{BB962C8B-B14F-4D97-AF65-F5344CB8AC3E}">
        <p14:creationId xmlns:p14="http://schemas.microsoft.com/office/powerpoint/2010/main" val="1276935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CAFA4-A46F-959E-2621-5FA9504E8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CYT scores – PFS outcomes - by Timepoint – ANOVA – stat labeling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0E5C30-26F6-B7C7-4EE6-A92CDDDB3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3563" y="1690688"/>
            <a:ext cx="8408918" cy="5167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D9B6EE-6671-6980-8745-52D9489F9FE4}"/>
              </a:ext>
            </a:extLst>
          </p:cNvPr>
          <p:cNvSpPr txBox="1"/>
          <p:nvPr/>
        </p:nvSpPr>
        <p:spPr>
          <a:xfrm>
            <a:off x="0" y="6488668"/>
            <a:ext cx="349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1pbmc-cyt-time-pfs-w-anova.pdf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3D5D99-2240-3867-868B-5362BDC3B8B2}"/>
              </a:ext>
            </a:extLst>
          </p:cNvPr>
          <p:cNvSpPr txBox="1"/>
          <p:nvPr/>
        </p:nvSpPr>
        <p:spPr>
          <a:xfrm>
            <a:off x="86497" y="6119336"/>
            <a:ext cx="338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pdf-folder&gt;stat-labeling-issue&gt;</a:t>
            </a:r>
          </a:p>
        </p:txBody>
      </p:sp>
    </p:spTree>
    <p:extLst>
      <p:ext uri="{BB962C8B-B14F-4D97-AF65-F5344CB8AC3E}">
        <p14:creationId xmlns:p14="http://schemas.microsoft.com/office/powerpoint/2010/main" val="3963287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6270-46E7-AE9C-9BD2-EE65FF3E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APS scores – by Timepoint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A4E771-C87A-BFE3-B5DA-3229E5B8B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3919" y="1347929"/>
            <a:ext cx="7204161" cy="55100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31210D-5D85-0A27-D557-B901F8EA8025}"/>
              </a:ext>
            </a:extLst>
          </p:cNvPr>
          <p:cNvSpPr txBox="1"/>
          <p:nvPr/>
        </p:nvSpPr>
        <p:spPr>
          <a:xfrm>
            <a:off x="0" y="6492875"/>
            <a:ext cx="3177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1pbmc-aps-time-w-anova.pdf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DD77E-6075-D0E3-1EAB-F2F4B23432EA}"/>
              </a:ext>
            </a:extLst>
          </p:cNvPr>
          <p:cNvSpPr txBox="1"/>
          <p:nvPr/>
        </p:nvSpPr>
        <p:spPr>
          <a:xfrm>
            <a:off x="0" y="6123543"/>
            <a:ext cx="347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pdf-folder&gt;PBMC&gt;APS-score&gt;</a:t>
            </a:r>
          </a:p>
        </p:txBody>
      </p:sp>
    </p:spTree>
    <p:extLst>
      <p:ext uri="{BB962C8B-B14F-4D97-AF65-F5344CB8AC3E}">
        <p14:creationId xmlns:p14="http://schemas.microsoft.com/office/powerpoint/2010/main" val="531787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03CA4-F1BB-FDE2-53FB-7E345D93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APS scores – by Lead-in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DE9162-565E-6576-1C39-80A05D20E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5130" y="1518048"/>
            <a:ext cx="6981739" cy="5339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BBF75C-9CCA-F9AA-19D8-406DCCDD37A1}"/>
              </a:ext>
            </a:extLst>
          </p:cNvPr>
          <p:cNvSpPr txBox="1"/>
          <p:nvPr/>
        </p:nvSpPr>
        <p:spPr>
          <a:xfrm>
            <a:off x="49477" y="6488668"/>
            <a:ext cx="3344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1pbmc-aps-leadin-w-anova.pdf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6C5E7-81AC-1B2C-1B1B-53B06167E3BB}"/>
              </a:ext>
            </a:extLst>
          </p:cNvPr>
          <p:cNvSpPr txBox="1"/>
          <p:nvPr/>
        </p:nvSpPr>
        <p:spPr>
          <a:xfrm>
            <a:off x="0" y="6123543"/>
            <a:ext cx="347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pdf-folder&gt;PBMC&gt;APS-score&gt;</a:t>
            </a:r>
          </a:p>
        </p:txBody>
      </p:sp>
    </p:spTree>
    <p:extLst>
      <p:ext uri="{BB962C8B-B14F-4D97-AF65-F5344CB8AC3E}">
        <p14:creationId xmlns:p14="http://schemas.microsoft.com/office/powerpoint/2010/main" val="1989266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4E4F-2E6F-A8A8-CC19-0FEAFEC58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APS scores – PFS outcome - by Lead-in - Wilcox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FF27C9-984A-F430-6045-495A88733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7392" y="1652902"/>
            <a:ext cx="7177216" cy="52050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8D8B60-4C64-3DFC-5F7F-E7C3F249D73A}"/>
              </a:ext>
            </a:extLst>
          </p:cNvPr>
          <p:cNvSpPr txBox="1"/>
          <p:nvPr/>
        </p:nvSpPr>
        <p:spPr>
          <a:xfrm>
            <a:off x="0" y="6488668"/>
            <a:ext cx="375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1pbmc-aps-leadin-pfs-w-wilcox.pdf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2DFCC-9395-68F1-996F-5728C7AB963D}"/>
              </a:ext>
            </a:extLst>
          </p:cNvPr>
          <p:cNvSpPr txBox="1"/>
          <p:nvPr/>
        </p:nvSpPr>
        <p:spPr>
          <a:xfrm>
            <a:off x="0" y="6123543"/>
            <a:ext cx="347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pdf-folder&gt;PBMC&gt;APS-score&gt;</a:t>
            </a:r>
          </a:p>
        </p:txBody>
      </p:sp>
    </p:spTree>
    <p:extLst>
      <p:ext uri="{BB962C8B-B14F-4D97-AF65-F5344CB8AC3E}">
        <p14:creationId xmlns:p14="http://schemas.microsoft.com/office/powerpoint/2010/main" val="4136155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593C-16DB-451F-060D-DC6F18C15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APS scores – PFS outcome - by Timepoint – ANOVA - stat labeling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29D300-0F7F-E9E6-345B-50B41F5D0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6622" y="1690688"/>
            <a:ext cx="8378755" cy="5148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AB2547-9459-897D-B8B8-A327F05A5F48}"/>
              </a:ext>
            </a:extLst>
          </p:cNvPr>
          <p:cNvSpPr txBox="1"/>
          <p:nvPr/>
        </p:nvSpPr>
        <p:spPr>
          <a:xfrm>
            <a:off x="135924" y="6512011"/>
            <a:ext cx="3564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1pbmc-aps-time-pfs-w-anova.pdf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FB110-7115-B534-D04B-55F2F7A291BB}"/>
              </a:ext>
            </a:extLst>
          </p:cNvPr>
          <p:cNvSpPr txBox="1"/>
          <p:nvPr/>
        </p:nvSpPr>
        <p:spPr>
          <a:xfrm>
            <a:off x="86497" y="6119336"/>
            <a:ext cx="3385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pdf-folder&gt;stat-labeling-issue&gt;</a:t>
            </a:r>
          </a:p>
        </p:txBody>
      </p:sp>
    </p:spTree>
    <p:extLst>
      <p:ext uri="{BB962C8B-B14F-4D97-AF65-F5344CB8AC3E}">
        <p14:creationId xmlns:p14="http://schemas.microsoft.com/office/powerpoint/2010/main" val="2055605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5B3E-C512-7744-98A4-7DB78418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items: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C072D-3B94-B085-F61C-D3554775A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Verify that these are what client is looking for</a:t>
            </a:r>
          </a:p>
          <a:p>
            <a:pPr lvl="1"/>
            <a:r>
              <a:rPr lang="en-US" dirty="0"/>
              <a:t>Make any suggested changes</a:t>
            </a:r>
          </a:p>
          <a:p>
            <a:r>
              <a:rPr lang="en-US" dirty="0"/>
              <a:t>Lilit mentioned a just-baseline box plot to show that there’s no change between the treatment arms over the baseline timepoint</a:t>
            </a:r>
          </a:p>
          <a:p>
            <a:pPr lvl="1"/>
            <a:r>
              <a:rPr lang="en-US" dirty="0"/>
              <a:t>Working on this</a:t>
            </a:r>
          </a:p>
          <a:p>
            <a:r>
              <a:rPr lang="en-US" dirty="0"/>
              <a:t>Paired samples</a:t>
            </a:r>
          </a:p>
          <a:p>
            <a:pPr lvl="1"/>
            <a:r>
              <a:rPr lang="en-US" dirty="0"/>
              <a:t>Connected lines to show progression over time</a:t>
            </a:r>
          </a:p>
          <a:p>
            <a:pPr lvl="2"/>
            <a:r>
              <a:rPr lang="en-US" dirty="0"/>
              <a:t>Baseline &gt; Week4</a:t>
            </a:r>
          </a:p>
          <a:p>
            <a:pPr lvl="2"/>
            <a:r>
              <a:rPr lang="en-US" dirty="0"/>
              <a:t>Baseline &gt; Week4 &gt; Week12/16</a:t>
            </a:r>
          </a:p>
          <a:p>
            <a:pPr lvl="1"/>
            <a:r>
              <a:rPr lang="en-US" dirty="0"/>
              <a:t>Working on this</a:t>
            </a:r>
          </a:p>
        </p:txBody>
      </p:sp>
    </p:spTree>
    <p:extLst>
      <p:ext uri="{BB962C8B-B14F-4D97-AF65-F5344CB8AC3E}">
        <p14:creationId xmlns:p14="http://schemas.microsoft.com/office/powerpoint/2010/main" val="312912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42BC-F1D3-DD52-D38D-C655DA6813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Baseline only – All scores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078C7-18FA-00B0-6588-A47D536F56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70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3C415-5B9F-341C-1120-26CD49165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All scores – Baseline timepoint only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B70001-78C6-9BC9-4184-BD642925D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1576" y="1690688"/>
            <a:ext cx="6188847" cy="50842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3BF98-0B34-CA91-C3C4-3F17C62EA5E8}"/>
              </a:ext>
            </a:extLst>
          </p:cNvPr>
          <p:cNvSpPr txBox="1"/>
          <p:nvPr/>
        </p:nvSpPr>
        <p:spPr>
          <a:xfrm>
            <a:off x="133815" y="6087224"/>
            <a:ext cx="1702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pdf-folder&gt;TIL&gt;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30DA4-7BD4-A146-1430-FFED1B9BF191}"/>
              </a:ext>
            </a:extLst>
          </p:cNvPr>
          <p:cNvSpPr txBox="1"/>
          <p:nvPr/>
        </p:nvSpPr>
        <p:spPr>
          <a:xfrm>
            <a:off x="133815" y="6456556"/>
            <a:ext cx="4376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2til-base-allscores-by-leadin-w-anova.pdf</a:t>
            </a:r>
          </a:p>
        </p:txBody>
      </p:sp>
    </p:spTree>
    <p:extLst>
      <p:ext uri="{BB962C8B-B14F-4D97-AF65-F5344CB8AC3E}">
        <p14:creationId xmlns:p14="http://schemas.microsoft.com/office/powerpoint/2010/main" val="2458987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18EB0-EA74-EF93-63D3-EC5A6B00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All scores – Baseline timepoint only - ANOVA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E1AA68-2D49-334F-80A2-44E4B4B3A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8327" y="1690688"/>
            <a:ext cx="6275345" cy="51552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EDCC25-0FB2-80DE-E914-D3277FD0D834}"/>
              </a:ext>
            </a:extLst>
          </p:cNvPr>
          <p:cNvSpPr txBox="1"/>
          <p:nvPr/>
        </p:nvSpPr>
        <p:spPr>
          <a:xfrm>
            <a:off x="133815" y="6087224"/>
            <a:ext cx="236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pdf-folder&gt;PBMC&gt;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E0D297-C316-AA8D-0595-CD35DB2EFB79}"/>
              </a:ext>
            </a:extLst>
          </p:cNvPr>
          <p:cNvSpPr txBox="1"/>
          <p:nvPr/>
        </p:nvSpPr>
        <p:spPr>
          <a:xfrm>
            <a:off x="133815" y="6456556"/>
            <a:ext cx="476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1pbmc-base-allscores-by-leadin-w-anova.pdf</a:t>
            </a:r>
          </a:p>
        </p:txBody>
      </p:sp>
    </p:spTree>
    <p:extLst>
      <p:ext uri="{BB962C8B-B14F-4D97-AF65-F5344CB8AC3E}">
        <p14:creationId xmlns:p14="http://schemas.microsoft.com/office/powerpoint/2010/main" val="3616435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8E26-7A7F-9FDD-C73B-D22317AB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All scores – Baseline + Week 4 – Wilcox – stat labeling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E3C0A2-AA7E-2716-67F3-B2D6F6C49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004" y="1604915"/>
            <a:ext cx="11653991" cy="5026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A6B8B7-796D-6587-EB4B-25C199DF1255}"/>
              </a:ext>
            </a:extLst>
          </p:cNvPr>
          <p:cNvSpPr txBox="1"/>
          <p:nvPr/>
        </p:nvSpPr>
        <p:spPr>
          <a:xfrm>
            <a:off x="0" y="6032810"/>
            <a:ext cx="3274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pdf-folder&gt;stat-labeling-issue&gt;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FDE7C-DDD4-C089-EB37-811821E09A8B}"/>
              </a:ext>
            </a:extLst>
          </p:cNvPr>
          <p:cNvSpPr txBox="1"/>
          <p:nvPr/>
        </p:nvSpPr>
        <p:spPr>
          <a:xfrm>
            <a:off x="0" y="6376907"/>
            <a:ext cx="3625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2til-allscores-blwk04-w-wilcox.pdf</a:t>
            </a:r>
          </a:p>
        </p:txBody>
      </p:sp>
    </p:spTree>
    <p:extLst>
      <p:ext uri="{BB962C8B-B14F-4D97-AF65-F5344CB8AC3E}">
        <p14:creationId xmlns:p14="http://schemas.microsoft.com/office/powerpoint/2010/main" val="2864092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D675-96CF-9D12-BF48-85C614CB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All scores – Baseline + Week 4 – Wilcox – stat labeling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B2DFEF-1695-750F-DBD5-8FD409702F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352" y="1690688"/>
            <a:ext cx="11011295" cy="51673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3582AC-BF54-9192-15C3-8111E3DFD042}"/>
              </a:ext>
            </a:extLst>
          </p:cNvPr>
          <p:cNvSpPr txBox="1"/>
          <p:nvPr/>
        </p:nvSpPr>
        <p:spPr>
          <a:xfrm>
            <a:off x="0" y="6032810"/>
            <a:ext cx="3274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pdf-folder&gt;stat-labeling-issue&gt;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9FFAC3-5B63-D985-F73F-A5BA1247B37F}"/>
              </a:ext>
            </a:extLst>
          </p:cNvPr>
          <p:cNvSpPr txBox="1"/>
          <p:nvPr/>
        </p:nvSpPr>
        <p:spPr>
          <a:xfrm>
            <a:off x="0" y="6376907"/>
            <a:ext cx="4195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1pbmc-allscores-blwk04-w-wilcox-1.pdf</a:t>
            </a:r>
          </a:p>
        </p:txBody>
      </p:sp>
    </p:spTree>
    <p:extLst>
      <p:ext uri="{BB962C8B-B14F-4D97-AF65-F5344CB8AC3E}">
        <p14:creationId xmlns:p14="http://schemas.microsoft.com/office/powerpoint/2010/main" val="34109720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BBFC-98A4-3B5C-FE30-40E2B1982A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Paired samples for Baseline + Week 4, all scores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D9E42-EC36-2C68-DCFF-48CBFE6F46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44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E97B-46D2-EDF9-58A3-2039DEA9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 – Paired samples – score by timepoint - Wilcox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6AB418-3780-0BAD-8716-0436297A7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7613" y="1359807"/>
            <a:ext cx="6416774" cy="51288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6466E7-84B3-8BB3-91B5-0FC79C3E309B}"/>
              </a:ext>
            </a:extLst>
          </p:cNvPr>
          <p:cNvSpPr txBox="1"/>
          <p:nvPr/>
        </p:nvSpPr>
        <p:spPr>
          <a:xfrm>
            <a:off x="0" y="6488668"/>
            <a:ext cx="5361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2til-pair-scores-bytime-connected-lines-wilcox.pdf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36C37-2AE8-83E9-71B1-7A79226BDBD1}"/>
              </a:ext>
            </a:extLst>
          </p:cNvPr>
          <p:cNvSpPr txBox="1"/>
          <p:nvPr/>
        </p:nvSpPr>
        <p:spPr>
          <a:xfrm>
            <a:off x="0" y="6119336"/>
            <a:ext cx="2984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pdf-folder&gt;Paired-samples&gt;</a:t>
            </a:r>
          </a:p>
        </p:txBody>
      </p:sp>
    </p:spTree>
    <p:extLst>
      <p:ext uri="{BB962C8B-B14F-4D97-AF65-F5344CB8AC3E}">
        <p14:creationId xmlns:p14="http://schemas.microsoft.com/office/powerpoint/2010/main" val="33645548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98D4-2C4A-7C09-F96A-8890EAC0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PBMC – Paired samples – score by timepoint - Wilcox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19A297-6D5F-8285-4FE5-A0D034F935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4159" y="1396881"/>
            <a:ext cx="6483682" cy="5182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4789B4-FE40-F2B3-FD3E-657555076BC8}"/>
              </a:ext>
            </a:extLst>
          </p:cNvPr>
          <p:cNvSpPr txBox="1"/>
          <p:nvPr/>
        </p:nvSpPr>
        <p:spPr>
          <a:xfrm>
            <a:off x="0" y="6488668"/>
            <a:ext cx="5565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1pbmc-pair-score-bytime-connected-lines-wstats.pdf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C2D9E-AF43-E8A8-6306-AB30F90ACDB8}"/>
              </a:ext>
            </a:extLst>
          </p:cNvPr>
          <p:cNvSpPr txBox="1"/>
          <p:nvPr/>
        </p:nvSpPr>
        <p:spPr>
          <a:xfrm>
            <a:off x="0" y="6119336"/>
            <a:ext cx="2984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pdf-folder&gt;Paired-samples&gt;</a:t>
            </a:r>
          </a:p>
        </p:txBody>
      </p:sp>
    </p:spTree>
    <p:extLst>
      <p:ext uri="{BB962C8B-B14F-4D97-AF65-F5344CB8AC3E}">
        <p14:creationId xmlns:p14="http://schemas.microsoft.com/office/powerpoint/2010/main" val="564039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5018489A27B7499804F4ED6D0E6645" ma:contentTypeVersion="15" ma:contentTypeDescription="Create a new document." ma:contentTypeScope="" ma:versionID="2e6cd1c89c4bfe30be89e636612ce472">
  <xsd:schema xmlns:xsd="http://www.w3.org/2001/XMLSchema" xmlns:xs="http://www.w3.org/2001/XMLSchema" xmlns:p="http://schemas.microsoft.com/office/2006/metadata/properties" xmlns:ns1="http://schemas.microsoft.com/sharepoint/v3" xmlns:ns2="597281f8-e61c-434f-98ad-078167789e9c" xmlns:ns3="f1734224-eee7-46a4-8e3c-dd679dfa6b35" targetNamespace="http://schemas.microsoft.com/office/2006/metadata/properties" ma:root="true" ma:fieldsID="4da51a81e1018e7b3abae42c188f6062" ns1:_="" ns2:_="" ns3:_="">
    <xsd:import namespace="http://schemas.microsoft.com/sharepoint/v3"/>
    <xsd:import namespace="597281f8-e61c-434f-98ad-078167789e9c"/>
    <xsd:import namespace="f1734224-eee7-46a4-8e3c-dd679dfa6b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281f8-e61c-434f-98ad-078167789e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b90debd-ee09-4e04-a4c4-812a7ed26d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734224-eee7-46a4-8e3c-dd679dfa6b3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79c718b-63ac-4edf-814b-87b8ec536894}" ma:internalName="TaxCatchAll" ma:showField="CatchAllData" ma:web="f1734224-eee7-46a4-8e3c-dd679dfa6b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597281f8-e61c-434f-98ad-078167789e9c">
      <Terms xmlns="http://schemas.microsoft.com/office/infopath/2007/PartnerControls"/>
    </lcf76f155ced4ddcb4097134ff3c332f>
    <_ip_UnifiedCompliancePolicyProperties xmlns="http://schemas.microsoft.com/sharepoint/v3" xsi:nil="true"/>
    <TaxCatchAll xmlns="f1734224-eee7-46a4-8e3c-dd679dfa6b3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56BCBE-BD0C-4B8A-A6D5-9BF5FDEE2A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97281f8-e61c-434f-98ad-078167789e9c"/>
    <ds:schemaRef ds:uri="f1734224-eee7-46a4-8e3c-dd679dfa6b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320AEE-8F18-4A34-AEAE-CF03760BD13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597281f8-e61c-434f-98ad-078167789e9c"/>
    <ds:schemaRef ds:uri="f1734224-eee7-46a4-8e3c-dd679dfa6b35"/>
  </ds:schemaRefs>
</ds:datastoreItem>
</file>

<file path=customXml/itemProps3.xml><?xml version="1.0" encoding="utf-8"?>
<ds:datastoreItem xmlns:ds="http://schemas.openxmlformats.org/officeDocument/2006/customXml" ds:itemID="{247A090A-5B2C-4B17-ACDF-6602E661B4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711</Words>
  <Application>Microsoft Macintosh PowerPoint</Application>
  <PresentationFormat>Widescreen</PresentationFormat>
  <Paragraphs>108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Project 253 –  Signature score boxplots</vt:lpstr>
      <vt:lpstr>Plots with correct lead-in order – TIL</vt:lpstr>
      <vt:lpstr>TIL – IFNg score – by Timepoint - ANOVA</vt:lpstr>
      <vt:lpstr>TIL – IFNg score – by Lead-in - ANOVA</vt:lpstr>
      <vt:lpstr>TIL – IFNg score – PFS outcome – by Lead-in - Wilcox</vt:lpstr>
      <vt:lpstr>TIL – IFNg score – PFS outcome – by Lead-in – ANOVA – stat labeling</vt:lpstr>
      <vt:lpstr>TIL – CYT score – by Timepoint - ANOVA</vt:lpstr>
      <vt:lpstr>TIL – CYT score – by Lead-in - ANOVA</vt:lpstr>
      <vt:lpstr>TIL – CYT score – PFS outcome - by Lead-in - Wilcox</vt:lpstr>
      <vt:lpstr>TIL – CYT score – PFS outcome - by Timepoint – ANOVA – stat labeling</vt:lpstr>
      <vt:lpstr>TIL – APS score – by Timepoint - ANOVA</vt:lpstr>
      <vt:lpstr>TIL – APS score – by Lead-in - ANOVA</vt:lpstr>
      <vt:lpstr>TIL – APS score – PFS outcome - by Lead-in - Wilcox</vt:lpstr>
      <vt:lpstr>TIL – APS score – PFS outcome - by Timepoint – ANOVA – stat labeling</vt:lpstr>
      <vt:lpstr>Plots with correct lead-in order - PBMC</vt:lpstr>
      <vt:lpstr>PBMC – IFNg score – by Timepoint - ANOVA</vt:lpstr>
      <vt:lpstr>PBMC – IFNg score – by Lead-in - ANOVA</vt:lpstr>
      <vt:lpstr>PBMC – IFNg score – PFS outcome – by Lead-in - Wilcox</vt:lpstr>
      <vt:lpstr>PBMC – IFNg score – PFS outcome – by Timepoint – ANOVA – stat labeling</vt:lpstr>
      <vt:lpstr>PBMC – CYT scores – by Timepoint - ANOVA</vt:lpstr>
      <vt:lpstr>PBMC – CYT scores – by Lead-in - ANOVA</vt:lpstr>
      <vt:lpstr>PBMC – CYT scores – PFS outcomes - by Lead-in - Wilcox</vt:lpstr>
      <vt:lpstr>PBMC – CYT scores – PFS outcomes - by Timepoint – ANOVA – stat labeling</vt:lpstr>
      <vt:lpstr>PBMC – APS scores – by Timepoint - ANOVA</vt:lpstr>
      <vt:lpstr>PBMC – APS scores – by Lead-in - ANOVA</vt:lpstr>
      <vt:lpstr>PBMC – APS scores – PFS outcome - by Lead-in - Wilcox</vt:lpstr>
      <vt:lpstr>PBMC – APS scores – PFS outcome - by Timepoint – ANOVA - stat labeling</vt:lpstr>
      <vt:lpstr>Action items:</vt:lpstr>
      <vt:lpstr>Baseline only – All scores</vt:lpstr>
      <vt:lpstr>TIL – All scores – Baseline timepoint only - ANOVA</vt:lpstr>
      <vt:lpstr>PBMC – All scores – Baseline timepoint only - ANOVA</vt:lpstr>
      <vt:lpstr>TIL – All scores – Baseline + Week 4 – Wilcox – stat labeling</vt:lpstr>
      <vt:lpstr>PBMC – All scores – Baseline + Week 4 – Wilcox – stat labeling</vt:lpstr>
      <vt:lpstr>Paired samples for Baseline + Week 4, all scores</vt:lpstr>
      <vt:lpstr>TIL – Paired samples – score by timepoint - Wilcox</vt:lpstr>
      <vt:lpstr>PBMC – Paired samples – score by timepoint - Wilcox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Walker, Jennifer Lee</dc:creator>
  <cp:lastModifiedBy>Walker, Jennifer Lee</cp:lastModifiedBy>
  <cp:revision>2</cp:revision>
  <dcterms:created xsi:type="dcterms:W3CDTF">2026-03-05T15:22:07Z</dcterms:created>
  <dcterms:modified xsi:type="dcterms:W3CDTF">2026-03-05T20:44:58Z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0x0101009B5018489A27B7499804F4ED6D0E6645</vt:lpwstr>
  </property>
</Properties>
</file>